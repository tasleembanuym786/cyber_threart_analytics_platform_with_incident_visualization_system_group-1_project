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13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  <Relationship Id="rId13" Type="http://schemas.openxmlformats.org/officeDocument/2006/relationships/slide" Target="slides/slide7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6308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6308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 Patterns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Analysis — Predictive &amp; Executive Power BI Dashboards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502920" cy="36576"/>
          </a:xfrm>
          <a:prstGeom prst="rect">
            <a:avLst/>
          </a:prstGeom>
          <a:solidFill>
            <a:srgbClr val="3E5CE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26308A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44348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 Harshitha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37560" y="443484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26308A"/>
          </a:solidFill>
          <a:ln/>
        </p:spPr>
      </p:sp>
      <p:sp>
        <p:nvSpPr>
          <p:cNvPr id="12" name="Text 10"/>
          <p:cNvSpPr/>
          <p:nvPr/>
        </p:nvSpPr>
        <p:spPr>
          <a:xfrm>
            <a:off x="3447288" y="44348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Abhilash Reddy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0" y="443484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26308A"/>
          </a:solidFill>
          <a:ln/>
        </p:spPr>
      </p:sp>
      <p:sp>
        <p:nvSpPr>
          <p:cNvPr id="14" name="Text 12"/>
          <p:cNvSpPr/>
          <p:nvPr/>
        </p:nvSpPr>
        <p:spPr>
          <a:xfrm>
            <a:off x="5961888" y="44348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Sartak Raj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66760" y="443484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26308A"/>
          </a:solidFill>
          <a:ln/>
        </p:spPr>
      </p:sp>
      <p:sp>
        <p:nvSpPr>
          <p:cNvPr id="16" name="Text 14"/>
          <p:cNvSpPr/>
          <p:nvPr/>
        </p:nvSpPr>
        <p:spPr>
          <a:xfrm>
            <a:off x="8476488" y="44348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Tasleem Banu Y 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Risk Assessment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risk assessment 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389888"/>
            <a:ext cx="7598664" cy="5129784"/>
          </a:xfrm>
          <a:prstGeom prst="roundRect">
            <a:avLst>
              <a:gd name="adj" fmla="val 1070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/home/claude/proj4/1788439505120_Screenshot_2026-09-02_22221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7452360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83880" y="1463040"/>
            <a:ext cx="3566160" cy="498348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45820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58200" y="2148840"/>
            <a:ext cx="3017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1,499 total attacks with High as the top severity level and an average anomaly score of 50.70.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 attacks blocked and payload length totaling 212K across all recorded traffic.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Geo-location map plots DDoS, Intrusion and Malware events, concentrated across South Asia.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attack details table lists DDoS, Malware and Intrusion cases with action taken and source.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Milestone-4 · Data Visualization Patterns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Threat Analytics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Geo-based predictive risk 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389888"/>
            <a:ext cx="7598664" cy="5129784"/>
          </a:xfrm>
          <a:prstGeom prst="roundRect">
            <a:avLst>
              <a:gd name="adj" fmla="val 1070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/home/claude/proj4/1788439528989_WhatsApp_Image_2026-09-03_at_6_00_11_P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7452360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83880" y="1463040"/>
            <a:ext cx="3566160" cy="498348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45820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58200" y="2148840"/>
            <a:ext cx="3017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total incidents with 296 critical risks and a high-risk rate of 33.20%.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 incidents blocked, tracked alongside a threat-response funnel of Ignored (498), Logged (493) and Blocked (480).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location map plots Critical, High, Low and Medium incidents densely across India and neighboring regions.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donut shows 1.5K total incidents split 34.5% Low, 33.2% Medium and 30.3% High.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Milestone-4 · Data Visualization Patterns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Command Centre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Geo-based executive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389888"/>
            <a:ext cx="7598664" cy="5129784"/>
          </a:xfrm>
          <a:prstGeom prst="roundRect">
            <a:avLst>
              <a:gd name="adj" fmla="val 1070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/home/claude/proj4/1788439536552_WhatsApp_Image_2026-09-03_at_6_13_34_P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7452360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83880" y="1463040"/>
            <a:ext cx="3566160" cy="498348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45820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58200" y="2148840"/>
            <a:ext cx="3017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Predictive Threat Analytics KPIs — 1,500 incidents, 296 critical, 33.20% high risk, 480 blocked.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response status funnel again shows Ignored (498) leading Logged (493) and Blocked (480).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Attack-type evolution timeline plots DDoS, Intrusion and Malware events across the incident timestamps.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Attack-type comparison bars rank Intrusion, Malware and DDoS as the leading incident categories.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Milestone-4 · Data Visualization Patterns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Threat Forecasting, Alerting &amp; Performance Analytics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and signature-level detail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389888"/>
            <a:ext cx="7598664" cy="5129784"/>
          </a:xfrm>
          <a:prstGeom prst="roundRect">
            <a:avLst>
              <a:gd name="adj" fmla="val 1070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/home/claude/proj4/1788439548941_WhatsApp_Image_2026-09-03_at_3_10_00_P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7452360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83880" y="1463040"/>
            <a:ext cx="3566160" cy="498348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45820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58200" y="2148840"/>
            <a:ext cx="3017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1,499 total attacks with 492 blocked, 499 logged and 508 ignored, plus 743 malware detections.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packet length of 794.37 and an anomaly score gauge reading 1.03 quantify traffic behavior.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signature distribution compares Known Pattern A and B counts, both exceeding 700 occurrences.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attack locations and a security response donut (High 31%, Low 29.75%) round out the operational view.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Milestone-4 · Data Visualization Patterns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6308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754880"/>
            <a:ext cx="4114800" cy="4114800"/>
          </a:xfrm>
          <a:prstGeom prst="ellipse">
            <a:avLst/>
          </a:prstGeom>
          <a:solidFill>
            <a:srgbClr val="26308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Outcome &amp; Next Steps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26308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92024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dashboards draw on the same ~1,500-attack dataset and consistently show High severity/risk near 33%, with response actions splitting roughly evenly across Blocked, Logged and Ignored. Geo-mapped views concentrate incidents across South Asia, while the forecasting-and-signature dashboard adds packet-level and anomaly-score detail — together giving both a strategic and an operational lens on the same underlying threats.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7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the KPIs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3891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on one set of headline metrics (total, blocked, high-risk %) across every dashboard view.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93008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7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93008" y="3977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geo-targeting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93008" y="43891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geo-location maps to prioritize monitoring and response resourcing for the highest-density regions.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08776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7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08776" y="3977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on 'Ignored'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08776" y="43891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Ignored actions rival Blocked and Logged, and route more of them into active response.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24544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7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924544" y="3977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forecasting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24544" y="43891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the anomaly-score and packet-length signals to predict emerging attack signatures earlier.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6080760"/>
            <a:ext cx="10607040" cy="18288"/>
          </a:xfrm>
          <a:prstGeom prst="rect">
            <a:avLst/>
          </a:prstGeom>
          <a:solidFill>
            <a:srgbClr val="3A449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236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9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64739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 Harshitha   ·   Abhilash Reddy   ·   Sartak Raj   ·   Tasleem Banu Y 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Header Circle"/>
          <p:cNvSpPr/>
          <p:nvPr/>
        </p:nvSpPr>
        <p:spPr>
          <a:xfrm>
            <a:off x="11200000" y="-500000"/>
            <a:ext cx="1600000" cy="1600000"/>
          </a:xfrm>
          <a:prstGeom prst="ellipse">
            <a:avLst/>
          </a:prstGeom>
          <a:solidFill>
            <a:srgbClr val="26308A"/>
          </a:solidFill>
          <a:ln/>
        </p:spPr>
      </p:sp>
      <p:sp>
        <p:nvSpPr>
          <p:cNvPr id="4" name="Title"/>
          <p:cNvSpPr/>
          <p:nvPr/>
        </p:nvSpPr>
        <p:spPr>
          <a:xfrm>
            <a:off x="457200" y="274320"/>
            <a:ext cx="60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4000" dirty="0"/>
          </a:p>
        </p:txBody>
      </p:sp>
      <p:sp>
        <p:nvSpPr>
          <p:cNvPr id="5" name="Subtitle"/>
          <p:cNvSpPr/>
          <p:nvPr/>
        </p:nvSpPr>
        <p:spPr>
          <a:xfrm>
            <a:off x="457200" y="822960"/>
            <a:ext cx="6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walk through today</a:t>
            </a:r>
            <a:endParaRPr lang="en-US" sz="1400" dirty="0"/>
          </a:p>
        </p:txBody>
      </p:sp>
      <p:sp>
        <p:nvSpPr>
          <p:cNvPr id="6" name="Card 0 bg"/>
          <p:cNvSpPr/>
          <p:nvPr/>
        </p:nvSpPr>
        <p:spPr>
          <a:xfrm>
            <a:off x="457200" y="1371600"/>
            <a:ext cx="5501640" cy="153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2F0"/>
            </a:solidFill>
          </a:ln>
        </p:spPr>
      </p:sp>
      <p:sp>
        <p:nvSpPr>
          <p:cNvPr id="7" name="Card 0 number"/>
          <p:cNvSpPr/>
          <p:nvPr/>
        </p:nvSpPr>
        <p:spPr>
          <a:xfrm>
            <a:off x="685800" y="1371600"/>
            <a:ext cx="900000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kern="0" dirty="0">
                <a:solidFill>
                  <a:srgbClr val="3E5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Card 0 title"/>
          <p:cNvSpPr/>
          <p:nvPr/>
        </p:nvSpPr>
        <p:spPr>
          <a:xfrm>
            <a:off x="1722960" y="1600200"/>
            <a:ext cx="400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9" name="Card 0 desc"/>
          <p:cNvSpPr/>
          <p:nvPr/>
        </p:nvSpPr>
        <p:spPr>
          <a:xfrm>
            <a:off x="1722960" y="2057400"/>
            <a:ext cx="4007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scope, and the dataset behind the analysis</a:t>
            </a:r>
            <a:endParaRPr lang="en-US" sz="1100" dirty="0"/>
          </a:p>
        </p:txBody>
      </p:sp>
      <p:sp>
        <p:nvSpPr>
          <p:cNvPr id="10" name="Card 1 bg"/>
          <p:cNvSpPr/>
          <p:nvPr/>
        </p:nvSpPr>
        <p:spPr>
          <a:xfrm>
            <a:off x="6233160" y="1371600"/>
            <a:ext cx="5501640" cy="153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2F0"/>
            </a:solidFill>
          </a:ln>
        </p:spPr>
      </p:sp>
      <p:sp>
        <p:nvSpPr>
          <p:cNvPr id="11" name="Card 1 number"/>
          <p:cNvSpPr/>
          <p:nvPr/>
        </p:nvSpPr>
        <p:spPr>
          <a:xfrm>
            <a:off x="6461760" y="1371600"/>
            <a:ext cx="900000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kern="0" dirty="0">
                <a:solidFill>
                  <a:srgbClr val="3E5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Card 1 title"/>
          <p:cNvSpPr/>
          <p:nvPr/>
        </p:nvSpPr>
        <p:spPr>
          <a:xfrm>
            <a:off x="7498920" y="1600200"/>
            <a:ext cx="400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 Assessment</a:t>
            </a:r>
            <a:endParaRPr lang="en-US" sz="1500" dirty="0"/>
          </a:p>
        </p:txBody>
      </p:sp>
      <p:sp>
        <p:nvSpPr>
          <p:cNvPr id="13" name="Card 1 desc"/>
          <p:cNvSpPr/>
          <p:nvPr/>
        </p:nvSpPr>
        <p:spPr>
          <a:xfrm>
            <a:off x="7498920" y="2057400"/>
            <a:ext cx="4007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attack footprint, severity mix, and top threat types</a:t>
            </a:r>
            <a:endParaRPr lang="en-US" sz="1100" dirty="0"/>
          </a:p>
        </p:txBody>
      </p:sp>
      <p:sp>
        <p:nvSpPr>
          <p:cNvPr id="14" name="Card 2 bg"/>
          <p:cNvSpPr/>
          <p:nvPr/>
        </p:nvSpPr>
        <p:spPr>
          <a:xfrm>
            <a:off x="457200" y="3093720"/>
            <a:ext cx="5501640" cy="153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2F0"/>
            </a:solidFill>
          </a:ln>
        </p:spPr>
      </p:sp>
      <p:sp>
        <p:nvSpPr>
          <p:cNvPr id="15" name="Card 2 number"/>
          <p:cNvSpPr/>
          <p:nvPr/>
        </p:nvSpPr>
        <p:spPr>
          <a:xfrm>
            <a:off x="685800" y="3093720"/>
            <a:ext cx="900000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kern="0" dirty="0">
                <a:solidFill>
                  <a:srgbClr val="3E5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Card 2 title"/>
          <p:cNvSpPr/>
          <p:nvPr/>
        </p:nvSpPr>
        <p:spPr>
          <a:xfrm>
            <a:off x="1722960" y="3322320"/>
            <a:ext cx="400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Threat Analytics</a:t>
            </a:r>
            <a:endParaRPr lang="en-US" sz="1500" dirty="0"/>
          </a:p>
        </p:txBody>
      </p:sp>
      <p:sp>
        <p:nvSpPr>
          <p:cNvPr id="17" name="Card 2 desc"/>
          <p:cNvSpPr/>
          <p:nvPr/>
        </p:nvSpPr>
        <p:spPr>
          <a:xfrm>
            <a:off x="1722960" y="3779520"/>
            <a:ext cx="4007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AI-forecasted risk and 60-day trend projection</a:t>
            </a:r>
            <a:endParaRPr lang="en-US" sz="1100" dirty="0"/>
          </a:p>
        </p:txBody>
      </p:sp>
      <p:sp>
        <p:nvSpPr>
          <p:cNvPr id="18" name="Card 3 bg"/>
          <p:cNvSpPr/>
          <p:nvPr/>
        </p:nvSpPr>
        <p:spPr>
          <a:xfrm>
            <a:off x="6233160" y="3093720"/>
            <a:ext cx="5501640" cy="153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2F0"/>
            </a:solidFill>
          </a:ln>
        </p:spPr>
      </p:sp>
      <p:sp>
        <p:nvSpPr>
          <p:cNvPr id="19" name="Card 3 number"/>
          <p:cNvSpPr/>
          <p:nvPr/>
        </p:nvSpPr>
        <p:spPr>
          <a:xfrm>
            <a:off x="6461760" y="3093720"/>
            <a:ext cx="900000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kern="0" dirty="0">
                <a:solidFill>
                  <a:srgbClr val="3E5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20" name="Card 3 title"/>
          <p:cNvSpPr/>
          <p:nvPr/>
        </p:nvSpPr>
        <p:spPr>
          <a:xfrm>
            <a:off x="7498920" y="3322320"/>
            <a:ext cx="400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Command Centre</a:t>
            </a:r>
            <a:endParaRPr lang="en-US" sz="1500" dirty="0"/>
          </a:p>
        </p:txBody>
      </p:sp>
      <p:sp>
        <p:nvSpPr>
          <p:cNvPr id="21" name="Card 3 desc"/>
          <p:cNvSpPr/>
          <p:nvPr/>
        </p:nvSpPr>
        <p:spPr>
          <a:xfrm>
            <a:off x="7498920" y="3779520"/>
            <a:ext cx="4007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operations view for leadership decision-making</a:t>
            </a:r>
            <a:endParaRPr lang="en-US" sz="1100" dirty="0"/>
          </a:p>
        </p:txBody>
      </p:sp>
      <p:sp>
        <p:nvSpPr>
          <p:cNvPr id="22" name="Card 4 bg"/>
          <p:cNvSpPr/>
          <p:nvPr/>
        </p:nvSpPr>
        <p:spPr>
          <a:xfrm>
            <a:off x="457200" y="4815840"/>
            <a:ext cx="5501640" cy="153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2F0"/>
            </a:solidFill>
          </a:ln>
        </p:spPr>
      </p:sp>
      <p:sp>
        <p:nvSpPr>
          <p:cNvPr id="23" name="Card 4 number"/>
          <p:cNvSpPr/>
          <p:nvPr/>
        </p:nvSpPr>
        <p:spPr>
          <a:xfrm>
            <a:off x="685800" y="4815840"/>
            <a:ext cx="900000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kern="0" dirty="0">
                <a:solidFill>
                  <a:srgbClr val="3E5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24" name="Card 4 title"/>
          <p:cNvSpPr/>
          <p:nvPr/>
        </p:nvSpPr>
        <p:spPr>
          <a:xfrm>
            <a:off x="1722960" y="5044440"/>
            <a:ext cx="400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Alerting &amp; Performance</a:t>
            </a:r>
            <a:endParaRPr lang="en-US" sz="1500" dirty="0"/>
          </a:p>
        </p:txBody>
      </p:sp>
      <p:sp>
        <p:nvSpPr>
          <p:cNvPr id="25" name="Card 4 desc"/>
          <p:cNvSpPr/>
          <p:nvPr/>
        </p:nvSpPr>
        <p:spPr>
          <a:xfrm>
            <a:off x="1722960" y="5501640"/>
            <a:ext cx="4007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triage, response metrics, and system health</a:t>
            </a:r>
            <a:endParaRPr lang="en-US" sz="1100" dirty="0"/>
          </a:p>
        </p:txBody>
      </p:sp>
      <p:sp>
        <p:nvSpPr>
          <p:cNvPr id="26" name="Card 5 bg"/>
          <p:cNvSpPr/>
          <p:nvPr/>
        </p:nvSpPr>
        <p:spPr>
          <a:xfrm>
            <a:off x="6233160" y="4815840"/>
            <a:ext cx="5501640" cy="153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2F0"/>
            </a:solidFill>
          </a:ln>
        </p:spPr>
      </p:sp>
      <p:sp>
        <p:nvSpPr>
          <p:cNvPr id="27" name="Card 5 number"/>
          <p:cNvSpPr/>
          <p:nvPr/>
        </p:nvSpPr>
        <p:spPr>
          <a:xfrm>
            <a:off x="6461760" y="4815840"/>
            <a:ext cx="900000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kern="0" dirty="0">
                <a:solidFill>
                  <a:srgbClr val="3E5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28" name="Card 5 title"/>
          <p:cNvSpPr/>
          <p:nvPr/>
        </p:nvSpPr>
        <p:spPr>
          <a:xfrm>
            <a:off x="7498920" y="5044440"/>
            <a:ext cx="400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Next Steps</a:t>
            </a:r>
            <a:endParaRPr lang="en-US" sz="1500" dirty="0"/>
          </a:p>
        </p:txBody>
      </p:sp>
      <p:sp>
        <p:nvSpPr>
          <p:cNvPr id="29" name="Card 5 desc"/>
          <p:cNvSpPr/>
          <p:nvPr/>
        </p:nvSpPr>
        <p:spPr>
          <a:xfrm>
            <a:off x="7498920" y="5501640"/>
            <a:ext cx="4007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insights and recommended actions</a:t>
            </a:r>
            <a:endParaRPr lang="en-US" sz="1100" dirty="0"/>
          </a:p>
        </p:txBody>
      </p:sp>
      <p:sp>
        <p:nvSpPr>
          <p:cNvPr id="30" name="Footer left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Milestone-4 · Data Visualization Patterns</a:t>
            </a:r>
            <a:endParaRPr lang="en-US" sz="900" dirty="0"/>
          </a:p>
        </p:txBody>
      </p:sp>
      <p:sp>
        <p:nvSpPr>
          <p:cNvPr id="31" name="Footer right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2026-09-03T12:47:23Z</dcterms:created>
  <dcterms:modified xsi:type="dcterms:W3CDTF">2026-09-03T12:47:23Z</dcterms:modified>
</cp:coreProperties>
</file>